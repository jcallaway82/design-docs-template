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08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F21FE-FEA8-4462-B611-1BCCC40D99EC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FA607-DE0C-4A1F-BFE5-92DB82147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9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FA607-DE0C-4A1F-BFE5-92DB821470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0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5787" y="1550920"/>
            <a:ext cx="9980427" cy="1905000"/>
          </a:xfrm>
        </p:spPr>
        <p:txBody>
          <a:bodyPr>
            <a:normAutofit/>
          </a:bodyPr>
          <a:lstStyle>
            <a:lvl1pPr algn="ctr">
              <a:lnSpc>
                <a:spcPts val="5000"/>
              </a:lnSpc>
              <a:defRPr sz="4800">
                <a:solidFill>
                  <a:srgbClr val="1946BA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415508"/>
            <a:ext cx="10363200" cy="886528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Subtitle or Date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332385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3034" y="3613035"/>
            <a:ext cx="604593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1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68223" y="6339557"/>
            <a:ext cx="5684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1105787" y="1550920"/>
            <a:ext cx="9980427" cy="1905000"/>
          </a:xfrm>
        </p:spPr>
        <p:txBody>
          <a:bodyPr>
            <a:normAutofit/>
          </a:bodyPr>
          <a:lstStyle>
            <a:lvl1pPr algn="ctr">
              <a:lnSpc>
                <a:spcPts val="5000"/>
              </a:lnSpc>
              <a:defRPr sz="4800">
                <a:solidFill>
                  <a:srgbClr val="1946BA"/>
                </a:solidFill>
                <a:effectLst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4025668"/>
            <a:ext cx="10363200" cy="886528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5098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8403" y="27159"/>
            <a:ext cx="11582400" cy="751442"/>
          </a:xfrm>
        </p:spPr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982305"/>
            <a:ext cx="10979149" cy="5140029"/>
          </a:xfrm>
        </p:spPr>
        <p:txBody>
          <a:bodyPr>
            <a:normAutofit/>
          </a:bodyPr>
          <a:lstStyle>
            <a:lvl1pPr marL="228600" indent="-228600">
              <a:defRPr sz="2400" baseline="0"/>
            </a:lvl1pPr>
            <a:lvl2pPr>
              <a:lnSpc>
                <a:spcPts val="2600"/>
              </a:lnSpc>
              <a:defRPr sz="2200" baseline="0"/>
            </a:lvl2pPr>
            <a:lvl3pPr>
              <a:lnSpc>
                <a:spcPts val="22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>
            <a:lvl1pPr>
              <a:defRPr sz="12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9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 Line Title &amp;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8403" y="-18106"/>
            <a:ext cx="11582400" cy="8329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3251" y="982305"/>
            <a:ext cx="5384800" cy="5140029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  <a:lvl2pPr>
              <a:defRPr sz="2200"/>
            </a:lvl2pPr>
            <a:lvl3pPr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Main</a:t>
            </a:r>
            <a:br>
              <a:rPr lang="en-US"/>
            </a:br>
            <a:r>
              <a:rPr lang="en-US"/>
              <a:t>2-Column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51" y="982305"/>
            <a:ext cx="5384800" cy="5140029"/>
          </a:xfrm>
        </p:spPr>
        <p:txBody>
          <a:bodyPr/>
          <a:lstStyle>
            <a:lvl1pPr>
              <a:lnSpc>
                <a:spcPts val="3000"/>
              </a:lnSpc>
              <a:defRPr sz="2400" baseline="0"/>
            </a:lvl1pPr>
            <a:lvl2pPr>
              <a:defRPr sz="2200"/>
            </a:lvl2pPr>
            <a:lvl3pPr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Main</a:t>
            </a:r>
            <a:br>
              <a:rPr lang="en-US"/>
            </a:br>
            <a:r>
              <a:rPr lang="en-US"/>
              <a:t>2-Column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4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and 3-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8403" y="27159"/>
            <a:ext cx="11582400" cy="751442"/>
          </a:xfrm>
        </p:spPr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982305"/>
            <a:ext cx="10979149" cy="1970446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65924" y="6339557"/>
            <a:ext cx="570773" cy="365125"/>
          </a:xfrm>
        </p:spPr>
        <p:txBody>
          <a:bodyPr/>
          <a:lstStyle>
            <a:lvl1pPr>
              <a:defRPr sz="12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3251" y="3030180"/>
            <a:ext cx="51879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949950" y="3030180"/>
            <a:ext cx="56324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add image or figure</a:t>
            </a:r>
          </a:p>
        </p:txBody>
      </p:sp>
    </p:spTree>
    <p:extLst>
      <p:ext uri="{BB962C8B-B14F-4D97-AF65-F5344CB8AC3E}">
        <p14:creationId xmlns:p14="http://schemas.microsoft.com/office/powerpoint/2010/main" val="392088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and 3-Area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8403" y="27159"/>
            <a:ext cx="11582400" cy="751442"/>
          </a:xfrm>
        </p:spPr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4148838"/>
            <a:ext cx="10979149" cy="1970446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65924" y="6339557"/>
            <a:ext cx="570773" cy="365125"/>
          </a:xfrm>
        </p:spPr>
        <p:txBody>
          <a:bodyPr/>
          <a:lstStyle>
            <a:lvl1pPr>
              <a:defRPr sz="12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3251" y="990293"/>
            <a:ext cx="51879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949950" y="990293"/>
            <a:ext cx="56324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add image or figure</a:t>
            </a:r>
          </a:p>
        </p:txBody>
      </p:sp>
    </p:spTree>
    <p:extLst>
      <p:ext uri="{BB962C8B-B14F-4D97-AF65-F5344CB8AC3E}">
        <p14:creationId xmlns:p14="http://schemas.microsoft.com/office/powerpoint/2010/main" val="403658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65600" y="6177280"/>
            <a:ext cx="3860800" cy="17907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 Black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403" y="27159"/>
            <a:ext cx="11582400" cy="751442"/>
          </a:xfrm>
        </p:spPr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7125" y="6339557"/>
            <a:ext cx="5495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5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1489300"/>
            <a:ext cx="10979149" cy="4567468"/>
          </a:xfrm>
        </p:spPr>
        <p:txBody>
          <a:bodyPr>
            <a:normAutofit/>
          </a:bodyPr>
          <a:lstStyle>
            <a:lvl1pPr marL="228600" indent="-228600">
              <a:defRPr sz="2400" baseline="0"/>
            </a:lvl1pPr>
            <a:lvl2pPr>
              <a:lnSpc>
                <a:spcPts val="2600"/>
              </a:lnSpc>
              <a:defRPr sz="2200" baseline="0"/>
            </a:lvl2pPr>
            <a:lvl3pPr>
              <a:lnSpc>
                <a:spcPts val="22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2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Line Title &amp;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3251" y="1492037"/>
            <a:ext cx="5384800" cy="4688445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  <a:lvl2pPr>
              <a:defRPr sz="2200"/>
            </a:lvl2pPr>
            <a:lvl3pPr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Main</a:t>
            </a:r>
            <a:br>
              <a:rPr lang="en-US"/>
            </a:br>
            <a:r>
              <a:rPr lang="en-US"/>
              <a:t>2-Column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51" y="1492037"/>
            <a:ext cx="5384800" cy="4688445"/>
          </a:xfrm>
        </p:spPr>
        <p:txBody>
          <a:bodyPr/>
          <a:lstStyle>
            <a:lvl1pPr>
              <a:lnSpc>
                <a:spcPts val="3000"/>
              </a:lnSpc>
              <a:defRPr sz="2400" baseline="0"/>
            </a:lvl1pPr>
            <a:lvl2pPr>
              <a:defRPr sz="2200"/>
            </a:lvl2pPr>
            <a:lvl3pPr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Main</a:t>
            </a:r>
            <a:br>
              <a:rPr lang="en-US"/>
            </a:br>
            <a:r>
              <a:rPr lang="en-US"/>
              <a:t>2-Column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9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Line Title and 3-Area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1489301"/>
            <a:ext cx="10979149" cy="14655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90637" y="6339557"/>
            <a:ext cx="546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3251" y="3030180"/>
            <a:ext cx="51879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949950" y="3030180"/>
            <a:ext cx="56324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add image or figure</a:t>
            </a:r>
          </a:p>
        </p:txBody>
      </p:sp>
    </p:spTree>
    <p:extLst>
      <p:ext uri="{BB962C8B-B14F-4D97-AF65-F5344CB8AC3E}">
        <p14:creationId xmlns:p14="http://schemas.microsoft.com/office/powerpoint/2010/main" val="410999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Line Title and 3-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946BA"/>
                </a:solidFill>
              </a:defRPr>
            </a:lvl1pPr>
          </a:lstStyle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251" y="4647366"/>
            <a:ext cx="10979149" cy="14655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90637" y="6339557"/>
            <a:ext cx="546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3251" y="1489246"/>
            <a:ext cx="51879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949950" y="1489246"/>
            <a:ext cx="5632449" cy="309439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defRPr sz="2400" baseline="0"/>
            </a:lvl1pPr>
            <a:lvl2pPr>
              <a:lnSpc>
                <a:spcPct val="100000"/>
              </a:lnSpc>
              <a:defRPr sz="2200" baseline="0"/>
            </a:lvl2pPr>
            <a:lvl3pPr>
              <a:lnSpc>
                <a:spcPct val="100000"/>
              </a:lnSpc>
              <a:defRPr sz="2000"/>
            </a:lvl3pPr>
          </a:lstStyle>
          <a:p>
            <a:pPr lvl="0"/>
            <a:r>
              <a:rPr lang="en-US"/>
              <a:t>Click to add image or figure</a:t>
            </a:r>
          </a:p>
        </p:txBody>
      </p:sp>
    </p:spTree>
    <p:extLst>
      <p:ext uri="{BB962C8B-B14F-4D97-AF65-F5344CB8AC3E}">
        <p14:creationId xmlns:p14="http://schemas.microsoft.com/office/powerpoint/2010/main" val="185578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12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91897" y="6339557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48000"/>
            <a:ext cx="10363200" cy="5334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3074575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400" y="6348610"/>
            <a:ext cx="554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946BA"/>
                </a:solidFill>
                <a:latin typeface="Gill Sans Std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6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17920"/>
            <a:ext cx="12192000" cy="6400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8403" y="81477"/>
            <a:ext cx="1158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  <a:br>
              <a:rPr lang="en-US"/>
            </a:br>
            <a:r>
              <a:rPr lang="en-US"/>
              <a:t>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251" y="1600201"/>
            <a:ext cx="1097914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Main Text</a:t>
            </a:r>
          </a:p>
          <a:p>
            <a:pPr lvl="1"/>
            <a:r>
              <a:rPr lang="en-US"/>
              <a:t>Click to add sub bullet</a:t>
            </a:r>
          </a:p>
          <a:p>
            <a:pPr lvl="1"/>
            <a:r>
              <a:rPr lang="en-US"/>
              <a:t>Click to add sub bullet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91897" y="63395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Gill Sans Std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324101" y="6262616"/>
            <a:ext cx="4273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1200" b="1" i="1">
                <a:solidFill>
                  <a:schemeClr val="bg1"/>
                </a:solidFill>
                <a:cs typeface="+mn-cs"/>
              </a:rPr>
              <a:t>SwRI PROPRIETARY – COMPETITION SENSITIVE</a:t>
            </a:r>
          </a:p>
        </p:txBody>
      </p:sp>
    </p:spTree>
    <p:extLst>
      <p:ext uri="{BB962C8B-B14F-4D97-AF65-F5344CB8AC3E}">
        <p14:creationId xmlns:p14="http://schemas.microsoft.com/office/powerpoint/2010/main" val="6422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3600" b="1" i="0" kern="1200" baseline="0">
          <a:solidFill>
            <a:srgbClr val="1946BA"/>
          </a:solidFill>
          <a:effectLst/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b="0" kern="1200" baseline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ts val="2600"/>
        </a:lnSpc>
        <a:spcBef>
          <a:spcPct val="20000"/>
        </a:spcBef>
        <a:buFont typeface="Arial" panose="020B0604020202020204" pitchFamily="34" charset="0"/>
        <a:buChar char="–"/>
        <a:defRPr sz="2200" kern="1200" baseline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082675" indent="-168275" algn="l" defTabSz="914400" rtl="0" eaLnBrk="1" latinLnBrk="0" hangingPunct="1">
        <a:lnSpc>
          <a:spcPts val="2200"/>
        </a:lnSpc>
        <a:spcBef>
          <a:spcPct val="20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1" i="0">
                <a:solidFill>
                  <a:srgbClr val="58A6FF"/>
                </a:solidFill>
                <a:latin typeface="Calibri"/>
              </a:rPr>
              <a:t>CLAWE INTERACTIVE EMITTERS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 dirty="0">
                <a:solidFill>
                  <a:schemeClr val="tx2"/>
                </a:solidFill>
                <a:latin typeface="Calibri"/>
              </a:rPr>
              <a:t>Data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00" b="0" i="0" dirty="0" err="1">
                <a:solidFill>
                  <a:srgbClr val="7D8590"/>
                </a:solidFill>
                <a:latin typeface="Calibri"/>
              </a:rPr>
              <a:t>ClaweRadarInstance</a:t>
            </a:r>
            <a:r>
              <a:rPr lang="en-US" sz="1500" b="0" i="0" dirty="0">
                <a:solidFill>
                  <a:srgbClr val="7D8590"/>
                </a:solidFill>
                <a:latin typeface="Calibri"/>
              </a:rPr>
              <a:t> / </a:t>
            </a:r>
            <a:r>
              <a:rPr lang="en-US" sz="1500" b="0" i="0" dirty="0" err="1">
                <a:solidFill>
                  <a:srgbClr val="7D8590"/>
                </a:solidFill>
                <a:latin typeface="Calibri"/>
              </a:rPr>
              <a:t>ClaweRadarModeInstance</a:t>
            </a:r>
            <a:r>
              <a:rPr lang="en-US" sz="1500" b="0" i="0" dirty="0">
                <a:solidFill>
                  <a:srgbClr val="7D8590"/>
                </a:solidFill>
                <a:latin typeface="Calibri"/>
              </a:rPr>
              <a:t> / </a:t>
            </a:r>
            <a:r>
              <a:rPr lang="en-US" sz="1500" b="0" i="0" dirty="0" err="1">
                <a:solidFill>
                  <a:srgbClr val="7D8590"/>
                </a:solidFill>
                <a:latin typeface="Calibri"/>
              </a:rPr>
              <a:t>ClaweWaveformInstance</a:t>
            </a:r>
            <a:r>
              <a:rPr lang="en-US" sz="1500" b="0" i="0" dirty="0">
                <a:solidFill>
                  <a:srgbClr val="7D8590"/>
                </a:solidFill>
                <a:latin typeface="Calibri"/>
              </a:rPr>
              <a:t> — proposed </a:t>
            </a:r>
            <a:r>
              <a:rPr lang="en-US" sz="1500" b="0" i="0" dirty="0" err="1">
                <a:solidFill>
                  <a:srgbClr val="7D8590"/>
                </a:solidFill>
                <a:latin typeface="Calibri"/>
              </a:rPr>
              <a:t>protobuf</a:t>
            </a:r>
            <a:r>
              <a:rPr lang="en-US" sz="1500" b="0" i="0" dirty="0">
                <a:solidFill>
                  <a:srgbClr val="7D8590"/>
                </a:solidFill>
                <a:latin typeface="Calibri"/>
              </a:rPr>
              <a:t> + SQLite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5689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0" i="0" dirty="0">
                <a:solidFill>
                  <a:srgbClr val="7D8590"/>
                </a:solidFill>
                <a:latin typeface="Calibri"/>
              </a:rPr>
              <a:t>v1.1  ·  Draft  ·  13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chemeClr val="accent1"/>
                </a:solidFill>
                <a:latin typeface="Calibri"/>
              </a:rPr>
              <a:t>Two-Layer Storage — Matches </a:t>
            </a:r>
            <a:r>
              <a:rPr sz="2600" b="1" i="0" dirty="0" err="1">
                <a:solidFill>
                  <a:schemeClr val="accent1"/>
                </a:solidFill>
                <a:latin typeface="Calibri"/>
              </a:rPr>
              <a:t>PRISM.Database's</a:t>
            </a:r>
            <a:r>
              <a:rPr sz="2600" b="1" i="0" dirty="0">
                <a:solidFill>
                  <a:schemeClr val="accent1"/>
                </a:solidFill>
                <a:latin typeface="Calibri"/>
              </a:rPr>
              <a:t> Emitter Schema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8" y="1720968"/>
            <a:ext cx="11064240" cy="34160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 dirty="0">
                <a:solidFill>
                  <a:schemeClr val="accent5"/>
                </a:solidFill>
                <a:latin typeface="Calibri"/>
              </a:rPr>
              <a:t>▸  Canonical layer:</a:t>
            </a:r>
            <a:r>
              <a:rPr sz="2000" b="0" dirty="0">
                <a:solidFill>
                  <a:schemeClr val="accent5"/>
                </a:solidFill>
                <a:latin typeface="Calibri"/>
              </a:rPr>
              <a:t>  </a:t>
            </a:r>
            <a:r>
              <a:rPr sz="2000" b="0" dirty="0">
                <a:solidFill>
                  <a:schemeClr val="tx2"/>
                </a:solidFill>
                <a:latin typeface="Calibri"/>
              </a:rPr>
              <a:t>the full radar (every mode, waveform, constraint, modifier parameter) is stored as one serialized </a:t>
            </a:r>
            <a:r>
              <a:rPr sz="2000" b="0" dirty="0" err="1">
                <a:solidFill>
                  <a:schemeClr val="tx2"/>
                </a:solidFill>
                <a:latin typeface="Calibri"/>
              </a:rPr>
              <a:t>protobuf</a:t>
            </a:r>
            <a:r>
              <a:rPr sz="2000" b="0" dirty="0">
                <a:solidFill>
                  <a:schemeClr val="tx2"/>
                </a:solidFill>
                <a:latin typeface="Calibri"/>
              </a:rPr>
              <a:t> blob per radar — the single source of truth, always read/written as a whole.</a:t>
            </a:r>
            <a:endParaRPr lang="en-US" sz="2000" b="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sz="2000" b="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 dirty="0">
                <a:solidFill>
                  <a:schemeClr val="accent5"/>
                </a:solidFill>
                <a:latin typeface="Calibri"/>
              </a:rPr>
              <a:t>▸  Index layer:</a:t>
            </a:r>
            <a:r>
              <a:rPr sz="2000" b="0" dirty="0">
                <a:solidFill>
                  <a:schemeClr val="accent5"/>
                </a:solidFill>
                <a:latin typeface="Calibri"/>
              </a:rPr>
              <a:t>  </a:t>
            </a:r>
            <a:r>
              <a:rPr sz="2000" b="0" dirty="0">
                <a:solidFill>
                  <a:schemeClr val="tx2"/>
                </a:solidFill>
                <a:latin typeface="Calibri"/>
              </a:rPr>
              <a:t>a few thin, flat SQLite rows (radar / mode / waveform — id, name, type only) exist purely so the UI can list and pick without deserializing a blob per row.</a:t>
            </a:r>
            <a:endParaRPr lang="en-US" sz="2000" b="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sz="2000" b="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 dirty="0">
                <a:solidFill>
                  <a:schemeClr val="accent5"/>
                </a:solidFill>
                <a:latin typeface="Calibri"/>
              </a:rPr>
              <a:t>▸  Not a dead end:</a:t>
            </a:r>
            <a:r>
              <a:rPr sz="2000" b="0" dirty="0">
                <a:solidFill>
                  <a:schemeClr val="accent5"/>
                </a:solidFill>
                <a:latin typeface="Calibri"/>
              </a:rPr>
              <a:t>  </a:t>
            </a:r>
            <a:r>
              <a:rPr sz="2000" b="0" dirty="0">
                <a:solidFill>
                  <a:schemeClr val="tx2"/>
                </a:solidFill>
                <a:latin typeface="Calibri"/>
              </a:rPr>
              <a:t>the blob stays canonical either way, so rollup tables can be added additively later — a schema-update step walks existing blobs into new tables — without reworking data already saved.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SCHEMA — CHART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i="0" dirty="0">
                <a:solidFill>
                  <a:schemeClr val="accent1"/>
                </a:solidFill>
                <a:latin typeface="Calibri"/>
              </a:rPr>
              <a:t>Radar Model Composition — Model, Operating Mode &amp; Waveforms</a:t>
            </a:r>
            <a:endParaRPr sz="2600" b="1" i="0" dirty="0">
              <a:solidFill>
                <a:schemeClr val="accent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62728"/>
            <a:ext cx="2736820" cy="1100121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ClaweRadarInstance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Name (unique)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Description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AlternateName</a:t>
            </a:r>
            <a:r>
              <a:rPr sz="1050" dirty="0">
                <a:solidFill>
                  <a:schemeClr val="tx2"/>
                </a:solidFill>
                <a:latin typeface="Calibri"/>
              </a:rPr>
              <a:t>[] (NATO/ELNOT)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06288"/>
            <a:ext cx="2736820" cy="1263102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ClaweRadarModeInstance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Name (unique in radar)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RadarModeType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Search,TAR,TTR,Missile</a:t>
            </a:r>
            <a:r>
              <a:rPr sz="1050" dirty="0">
                <a:solidFill>
                  <a:schemeClr val="tx2"/>
                </a:solidFill>
                <a:latin typeface="Calibri"/>
              </a:rPr>
              <a:t>}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OperatingMode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Manual,Auto,Cognitive</a:t>
            </a:r>
            <a:r>
              <a:rPr sz="1050" dirty="0">
                <a:solidFill>
                  <a:schemeClr val="tx2"/>
                </a:solidFill>
                <a:latin typeface="Calibri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84960"/>
            <a:ext cx="2736820" cy="1222357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ClaweWaveformInstance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WaveformID</a:t>
            </a:r>
            <a:r>
              <a:rPr sz="1050" dirty="0">
                <a:solidFill>
                  <a:schemeClr val="tx2"/>
                </a:solidFill>
                <a:latin typeface="Calibri"/>
              </a:rPr>
              <a:t> (unique in mode)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BaseWaveform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{PD, SP}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CenterFreqType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Fixed,Random</a:t>
            </a:r>
            <a:r>
              <a:rPr sz="1050" dirty="0">
                <a:solidFill>
                  <a:schemeClr val="tx2"/>
                </a:solidFill>
                <a:latin typeface="Calibri"/>
              </a:rPr>
              <a:t>}</a:t>
            </a:r>
          </a:p>
        </p:txBody>
      </p:sp>
      <p:cxnSp>
        <p:nvCxnSpPr>
          <p:cNvPr id="9" name="Connector 8"/>
          <p:cNvCxnSpPr>
            <a:cxnSpLocks/>
            <a:stCxn id="6" idx="2"/>
            <a:endCxn id="7" idx="0"/>
          </p:cNvCxnSpPr>
          <p:nvPr/>
        </p:nvCxnSpPr>
        <p:spPr>
          <a:xfrm>
            <a:off x="1917050" y="2462849"/>
            <a:ext cx="0" cy="443439"/>
          </a:xfrm>
          <a:prstGeom prst="line">
            <a:avLst/>
          </a:prstGeom>
          <a:ln w="15875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3800" y="2572532"/>
            <a:ext cx="10035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0..N</a:t>
            </a:r>
          </a:p>
        </p:txBody>
      </p:sp>
      <p:cxnSp>
        <p:nvCxnSpPr>
          <p:cNvPr id="11" name="Connector 10"/>
          <p:cNvCxnSpPr>
            <a:cxnSpLocks/>
            <a:endCxn id="8" idx="0"/>
          </p:cNvCxnSpPr>
          <p:nvPr/>
        </p:nvCxnSpPr>
        <p:spPr>
          <a:xfrm flipH="1">
            <a:off x="1917050" y="4173480"/>
            <a:ext cx="3190" cy="411480"/>
          </a:xfrm>
          <a:prstGeom prst="line">
            <a:avLst/>
          </a:prstGeom>
          <a:ln w="15875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53800" y="4244380"/>
            <a:ext cx="10035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0..N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1459" y="2119672"/>
            <a:ext cx="2873661" cy="1426083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B48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rgbClr val="B48EFF"/>
                </a:solidFill>
                <a:latin typeface="Calibri"/>
              </a:rPr>
              <a:t>OperatingMode</a:t>
            </a:r>
            <a:r>
              <a:rPr sz="1300" b="1" dirty="0">
                <a:solidFill>
                  <a:srgbClr val="B48EFF"/>
                </a:solidFill>
                <a:latin typeface="Calibri"/>
              </a:rPr>
              <a:t>  «</a:t>
            </a:r>
            <a:r>
              <a:rPr sz="1300" b="1" dirty="0" err="1">
                <a:solidFill>
                  <a:srgbClr val="B48EFF"/>
                </a:solidFill>
                <a:latin typeface="Calibri"/>
              </a:rPr>
              <a:t>oneof</a:t>
            </a:r>
            <a:r>
              <a:rPr sz="1300" b="1" dirty="0">
                <a:solidFill>
                  <a:srgbClr val="B48EFF"/>
                </a:solidFill>
                <a:latin typeface="Calibri"/>
              </a:rPr>
              <a:t>»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Manual — no payload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Auto — repeating waveform Schedule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Cognitive —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OptimizationType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Learning,Speed</a:t>
            </a:r>
            <a:r>
              <a:rPr sz="1050" dirty="0">
                <a:solidFill>
                  <a:schemeClr val="tx2"/>
                </a:solidFill>
                <a:latin typeface="Calibri"/>
              </a:rPr>
              <a:t>}</a:t>
            </a:r>
          </a:p>
        </p:txBody>
      </p:sp>
      <p:cxnSp>
        <p:nvCxnSpPr>
          <p:cNvPr id="14" name="Connector 13"/>
          <p:cNvCxnSpPr>
            <a:cxnSpLocks/>
            <a:stCxn id="7" idx="3"/>
            <a:endCxn id="13" idx="1"/>
          </p:cNvCxnSpPr>
          <p:nvPr/>
        </p:nvCxnSpPr>
        <p:spPr>
          <a:xfrm flipV="1">
            <a:off x="3285460" y="2832714"/>
            <a:ext cx="515999" cy="705125"/>
          </a:xfrm>
          <a:prstGeom prst="bentConnector3">
            <a:avLst>
              <a:gd name="adj1" fmla="val 50000"/>
            </a:avLst>
          </a:prstGeom>
          <a:ln w="15875">
            <a:solidFill>
              <a:srgbClr val="B48E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78040" y="2769128"/>
            <a:ext cx="4470140" cy="1629809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39D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rgbClr val="39D2C0"/>
                </a:solidFill>
                <a:latin typeface="Calibri"/>
              </a:rPr>
              <a:t>ClaweConstraintEnvelope</a:t>
            </a:r>
            <a:endParaRPr sz="1300" b="1" dirty="0">
              <a:solidFill>
                <a:srgbClr val="39D2C0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CFConstraintType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{Range,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Discretes</a:t>
            </a:r>
            <a:r>
              <a:rPr sz="1050" dirty="0">
                <a:solidFill>
                  <a:schemeClr val="tx2"/>
                </a:solidFill>
                <a:latin typeface="Calibri"/>
              </a:rPr>
              <a:t>}  · 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MaxDutyCycle_percent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· 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CPIDurationType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{Fixed, Variable}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 err="1">
                <a:solidFill>
                  <a:schemeClr val="tx2"/>
                </a:solidFill>
                <a:latin typeface="Calibri"/>
              </a:rPr>
              <a:t>PDConstraints</a:t>
            </a:r>
            <a:r>
              <a:rPr sz="1050" dirty="0">
                <a:solidFill>
                  <a:schemeClr val="tx2"/>
                </a:solidFill>
                <a:latin typeface="Calibri"/>
              </a:rPr>
              <a:t> (0..1)  and 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SPConstraints</a:t>
            </a:r>
            <a:r>
              <a:rPr sz="1050" dirty="0">
                <a:solidFill>
                  <a:schemeClr val="tx2"/>
                </a:solidFill>
                <a:latin typeface="Calibri"/>
              </a:rPr>
              <a:t> (0..1) — both may be set at once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V="1">
            <a:off x="3292584" y="3718367"/>
            <a:ext cx="3891410" cy="37191"/>
          </a:xfrm>
          <a:prstGeom prst="line">
            <a:avLst/>
          </a:prstGeom>
          <a:ln w="15875">
            <a:solidFill>
              <a:srgbClr val="39D2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94760" y="4584960"/>
            <a:ext cx="7845552" cy="1263102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rgbClr val="D29922"/>
                </a:solidFill>
                <a:latin typeface="Calibri"/>
              </a:rPr>
              <a:t>ModifierStack</a:t>
            </a:r>
            <a:r>
              <a:rPr sz="1300" b="1" dirty="0">
                <a:solidFill>
                  <a:srgbClr val="D29922"/>
                </a:solidFill>
                <a:latin typeface="Calibri"/>
              </a:rPr>
              <a:t> (9, each independently toggleable)  «</a:t>
            </a:r>
            <a:r>
              <a:rPr sz="1300" b="1" dirty="0" err="1">
                <a:solidFill>
                  <a:srgbClr val="D29922"/>
                </a:solidFill>
                <a:latin typeface="Calibri"/>
              </a:rPr>
              <a:t>oneof</a:t>
            </a:r>
            <a:r>
              <a:rPr sz="1300" b="1" dirty="0">
                <a:solidFill>
                  <a:srgbClr val="D29922"/>
                </a:solidFill>
                <a:latin typeface="Calibri"/>
              </a:rPr>
              <a:t> per modifier»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Phase · Frequency ·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PulseCompression</a:t>
            </a:r>
            <a:r>
              <a:rPr sz="1050" dirty="0">
                <a:solidFill>
                  <a:schemeClr val="tx2"/>
                </a:solidFill>
                <a:latin typeface="Calibri"/>
              </a:rPr>
              <a:t> · PRI · PW · Amplitude ·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LeadingEdge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·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TrailingEdge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· Discrimination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50" dirty="0">
                <a:solidFill>
                  <a:schemeClr val="tx2"/>
                </a:solidFill>
                <a:latin typeface="Calibri"/>
              </a:rPr>
              <a:t>Every branch is None-or-one-detail (e.g.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LeadingEdgeModifier</a:t>
            </a:r>
            <a:r>
              <a:rPr sz="1050" dirty="0">
                <a:solidFill>
                  <a:schemeClr val="tx2"/>
                </a:solidFill>
                <a:latin typeface="Calibri"/>
              </a:rPr>
              <a:t> → None |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Rampup</a:t>
            </a:r>
            <a:r>
              <a:rPr sz="1050" dirty="0">
                <a:solidFill>
                  <a:schemeClr val="tx2"/>
                </a:solidFill>
                <a:latin typeface="Calibri"/>
              </a:rPr>
              <a:t> |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Prepulse</a:t>
            </a:r>
            <a:r>
              <a:rPr sz="1050" dirty="0">
                <a:solidFill>
                  <a:schemeClr val="tx2"/>
                </a:solidFill>
                <a:latin typeface="Calibri"/>
              </a:rPr>
              <a:t>)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3291840" y="5270760"/>
            <a:ext cx="501750" cy="0"/>
          </a:xfrm>
          <a:prstGeom prst="line">
            <a:avLst/>
          </a:prstGeom>
          <a:ln w="15875">
            <a:solidFill>
              <a:srgbClr val="D29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993340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 dirty="0">
                <a:solidFill>
                  <a:srgbClr val="7D8590"/>
                </a:solidFill>
                <a:latin typeface="Calibri"/>
              </a:rPr>
              <a:t>«</a:t>
            </a:r>
            <a:r>
              <a:rPr sz="1050" b="0" i="1" dirty="0" err="1">
                <a:solidFill>
                  <a:srgbClr val="7D8590"/>
                </a:solidFill>
                <a:latin typeface="Calibri"/>
              </a:rPr>
              <a:t>oneof</a:t>
            </a:r>
            <a:r>
              <a:rPr sz="1050" b="0" i="1" dirty="0">
                <a:solidFill>
                  <a:srgbClr val="7D8590"/>
                </a:solidFill>
                <a:latin typeface="Calibri"/>
              </a:rPr>
              <a:t>» marks a discriminated union — exactly one branch is valid at a time, gated by a sibling </a:t>
            </a:r>
            <a:r>
              <a:rPr sz="1050" b="0" i="1" dirty="0" err="1">
                <a:solidFill>
                  <a:srgbClr val="7D8590"/>
                </a:solidFill>
                <a:latin typeface="Calibri"/>
              </a:rPr>
              <a:t>enum</a:t>
            </a:r>
            <a:r>
              <a:rPr sz="1050" b="0" i="1" dirty="0">
                <a:solidFill>
                  <a:srgbClr val="7D859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SCHEMA — CHART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chemeClr val="accent1"/>
                </a:solidFill>
                <a:latin typeface="Calibri"/>
              </a:rPr>
              <a:t>Proposed SQLite Tables — Thin Index + Canonical Blob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74821" y="1828800"/>
            <a:ext cx="2834640" cy="16002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rgbClr val="58A6FF"/>
                </a:solidFill>
                <a:latin typeface="Calibri"/>
              </a:rPr>
              <a:t>ClaweRadar</a:t>
            </a:r>
            <a:endParaRPr sz="1300" b="1" dirty="0">
              <a:solidFill>
                <a:srgbClr val="58A6FF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</a:t>
            </a:r>
            <a:r>
              <a:rPr lang="en-US" sz="1050" dirty="0">
                <a:solidFill>
                  <a:schemeClr val="tx2"/>
                </a:solidFill>
                <a:latin typeface="Calibri"/>
              </a:rPr>
              <a:t>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PK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string: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Name  (unique, sole external handle)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</a:rPr>
              <a:t>string: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Description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int:</a:t>
            </a:r>
            <a:r>
              <a:rPr lang="en-US" sz="1050" dirty="0">
                <a:solidFill>
                  <a:schemeClr val="tx2"/>
                </a:solidFill>
                <a:latin typeface="Calibri"/>
              </a:rPr>
              <a:t>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ModeCount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(cached)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92948"/>
            <a:ext cx="2834640" cy="13716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ClaweRadarAlternateName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</a:t>
            </a:r>
            <a:r>
              <a:rPr lang="en-US" sz="1050" dirty="0">
                <a:solidFill>
                  <a:schemeClr val="tx2"/>
                </a:solidFill>
                <a:latin typeface="Calibri"/>
              </a:rPr>
              <a:t>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ClaweRadarAlternateNamePk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PK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FK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Type {Nato,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Elnot</a:t>
            </a:r>
            <a:r>
              <a:rPr sz="1050" dirty="0">
                <a:solidFill>
                  <a:schemeClr val="tx2"/>
                </a:solidFill>
                <a:latin typeface="Calibri"/>
              </a:rPr>
              <a:t>}</a:t>
            </a:r>
            <a:endParaRPr lang="en-US"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string: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8578" y="1913009"/>
            <a:ext cx="2651760" cy="13716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6D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rgbClr val="56D364"/>
                </a:solidFill>
                <a:latin typeface="Calibri"/>
              </a:rPr>
              <a:t>ClaweRadarProtoBlob</a:t>
            </a:r>
            <a:endParaRPr sz="1300" b="1" dirty="0">
              <a:solidFill>
                <a:srgbClr val="56D364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PK, FK  (shared)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bytes: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ProtoBytes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(full radar, serialized)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string: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ProtoVersion</a:t>
            </a:r>
            <a:endParaRPr lang="en-US"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Compression</a:t>
            </a:r>
            <a:endParaRPr lang="en-US"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bytes: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Sha256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4336" y="3824852"/>
            <a:ext cx="3130439" cy="196596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ClaweRadarMode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</a:t>
            </a:r>
            <a:r>
              <a:rPr lang="en-US" sz="1050" dirty="0">
                <a:solidFill>
                  <a:schemeClr val="tx2"/>
                </a:solidFill>
                <a:latin typeface="Calibri"/>
              </a:rPr>
              <a:t>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ClaweRadarModePk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PK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</a:rPr>
              <a:t>long:</a:t>
            </a:r>
            <a:r>
              <a:rPr lang="en-US" sz="1050" dirty="0">
                <a:solidFill>
                  <a:schemeClr val="tx2"/>
                </a:solidFill>
              </a:rPr>
              <a:t>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FK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string: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Name  (unique in radar)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RadarModeType</a:t>
            </a:r>
            <a:endParaRPr lang="en-US"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OperatingMode</a:t>
            </a:r>
            <a:endParaRPr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OptimizationType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(nullable, Cognitive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3955" y="3962012"/>
            <a:ext cx="3017520" cy="169164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300" b="1" dirty="0" err="1">
                <a:solidFill>
                  <a:schemeClr val="accent5"/>
                </a:solidFill>
                <a:latin typeface="Calibri"/>
              </a:rPr>
              <a:t>ClaweRadarModeWaveform</a:t>
            </a:r>
            <a:endParaRPr sz="1300" b="1" dirty="0">
              <a:solidFill>
                <a:schemeClr val="accent5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long: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ClaweRadarModeWaveformPk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PK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</a:rPr>
              <a:t>long: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ClaweRadarModePk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FK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</a:rPr>
              <a:t>long: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WaveformId</a:t>
            </a:r>
            <a:r>
              <a:rPr sz="1050" dirty="0">
                <a:solidFill>
                  <a:schemeClr val="tx2"/>
                </a:solidFill>
                <a:latin typeface="Calibri"/>
              </a:rPr>
              <a:t>  (unique in mode)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>
                <a:solidFill>
                  <a:schemeClr val="accent2"/>
                </a:solidFill>
                <a:latin typeface="Calibri"/>
              </a:rPr>
              <a:t>string: </a:t>
            </a:r>
            <a:r>
              <a:rPr sz="1050" dirty="0">
                <a:solidFill>
                  <a:schemeClr val="tx2"/>
                </a:solidFill>
                <a:latin typeface="Calibri"/>
              </a:rPr>
              <a:t>Name</a:t>
            </a:r>
            <a:endParaRPr lang="en-US" sz="1050" dirty="0">
              <a:solidFill>
                <a:schemeClr val="tx2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1050" dirty="0" err="1">
                <a:solidFill>
                  <a:schemeClr val="accent2"/>
                </a:solidFill>
                <a:latin typeface="Calibri"/>
              </a:rPr>
              <a:t>enum</a:t>
            </a:r>
            <a:r>
              <a:rPr lang="en-US" sz="1050" dirty="0">
                <a:solidFill>
                  <a:schemeClr val="accent2"/>
                </a:solidFill>
                <a:latin typeface="Calibri"/>
              </a:rPr>
              <a:t>: </a:t>
            </a:r>
            <a:r>
              <a:rPr sz="1050" dirty="0" err="1">
                <a:solidFill>
                  <a:schemeClr val="tx2"/>
                </a:solidFill>
                <a:latin typeface="Calibri"/>
              </a:rPr>
              <a:t>BaseWaveform</a:t>
            </a:r>
            <a:endParaRPr sz="1050" dirty="0">
              <a:solidFill>
                <a:schemeClr val="tx2"/>
              </a:solidFill>
              <a:latin typeface="Calibri"/>
            </a:endParaRP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91840" y="2485256"/>
            <a:ext cx="982981" cy="0"/>
          </a:xfrm>
          <a:prstGeom prst="line">
            <a:avLst/>
          </a:prstGeom>
          <a:ln w="15875">
            <a:solidFill>
              <a:srgbClr val="3036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0410" y="2316447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1 : 0..N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7109461" y="2485256"/>
            <a:ext cx="1897379" cy="0"/>
          </a:xfrm>
          <a:prstGeom prst="line">
            <a:avLst/>
          </a:prstGeom>
          <a:ln w="15875">
            <a:solidFill>
              <a:srgbClr val="56D364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62545" y="2322716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1 : 1</a:t>
            </a:r>
          </a:p>
        </p:txBody>
      </p:sp>
      <p:cxnSp>
        <p:nvCxnSpPr>
          <p:cNvPr id="15" name="Connector 14"/>
          <p:cNvCxnSpPr>
            <a:cxnSpLocks/>
            <a:stCxn id="6" idx="2"/>
            <a:endCxn id="9" idx="0"/>
          </p:cNvCxnSpPr>
          <p:nvPr/>
        </p:nvCxnSpPr>
        <p:spPr>
          <a:xfrm>
            <a:off x="5692141" y="3429000"/>
            <a:ext cx="7415" cy="395852"/>
          </a:xfrm>
          <a:prstGeom prst="line">
            <a:avLst/>
          </a:prstGeom>
          <a:ln w="15875">
            <a:solidFill>
              <a:srgbClr val="3036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13567" y="3541388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1 : 0..N</a:t>
            </a:r>
          </a:p>
        </p:txBody>
      </p:sp>
      <p:cxnSp>
        <p:nvCxnSpPr>
          <p:cNvPr id="17" name="Connector 16"/>
          <p:cNvCxnSpPr>
            <a:cxnSpLocks/>
            <a:stCxn id="9" idx="3"/>
            <a:endCxn id="10" idx="1"/>
          </p:cNvCxnSpPr>
          <p:nvPr/>
        </p:nvCxnSpPr>
        <p:spPr>
          <a:xfrm>
            <a:off x="7264775" y="4807832"/>
            <a:ext cx="949180" cy="0"/>
          </a:xfrm>
          <a:prstGeom prst="line">
            <a:avLst/>
          </a:prstGeom>
          <a:ln w="15875">
            <a:solidFill>
              <a:srgbClr val="3036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57951" y="4656286"/>
            <a:ext cx="8686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 dirty="0">
                <a:solidFill>
                  <a:schemeClr val="tx2"/>
                </a:solidFill>
                <a:latin typeface="Calibri"/>
              </a:rPr>
              <a:t>1 : 0..N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FIELD REFERENCE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chemeClr val="accent1"/>
                </a:solidFill>
                <a:latin typeface="Calibri"/>
              </a:rPr>
              <a:t>ClaweRadarInstance</a:t>
            </a:r>
            <a:endParaRPr sz="2600" b="1" i="0" dirty="0">
              <a:solidFill>
                <a:schemeClr val="accent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852144"/>
              </p:ext>
            </p:extLst>
          </p:nvPr>
        </p:nvGraphicFramePr>
        <p:xfrm>
          <a:off x="548640" y="150876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chemeClr val="tx1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chemeClr val="tx1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chemeClr val="tx1"/>
                          </a:solidFill>
                          <a:latin typeface="Calibri"/>
                        </a:rPr>
                        <a:t>Card.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chemeClr val="tx1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Unique within the radar database. Sole external identity handle.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Free-text description.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AlternateName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0..N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NATO or ELNOT designator; UI should mirror STS's existing alt-name fields.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Modes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ClaweRadarModeInstance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0..N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Radar modes belonging to this radar.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FIELD REFERENCE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chemeClr val="accent1"/>
                </a:solidFill>
                <a:latin typeface="Calibri"/>
              </a:rPr>
              <a:t>ClaweRadarModeInstance</a:t>
            </a:r>
            <a:endParaRPr sz="2600" b="1" i="0" dirty="0">
              <a:solidFill>
                <a:schemeClr val="accent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278283"/>
              </p:ext>
            </p:extLst>
          </p:nvPr>
        </p:nvGraphicFramePr>
        <p:xfrm>
          <a:off x="548640" y="1383327"/>
          <a:ext cx="11064240" cy="4666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8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chemeClr val="tx1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chemeClr val="tx1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chemeClr val="tx1"/>
                          </a:solidFill>
                          <a:latin typeface="Calibri"/>
                        </a:rPr>
                        <a:t>Card.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tx1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Unique within the parent radar.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RadarModeType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  <a:endParaRPr sz="950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{Search, TAR, TTR, Missile} — only TTR is initially supported.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OperatingMode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  <a:endParaRPr sz="950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{Manual, Auto, Cognitive}. Manual = operator-in-the-loop.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Auto.Schedule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WaveformID + Duration_s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0..N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Repeating waveform schedule; Duration_s=0 plays once.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Cognitive.OptimizationType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 if Cognitive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{Learning, Speed}.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CFConstraintType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{Range,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Discretes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}; Range optionally Channelized.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MaxDutyCycle_percent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double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Radar blanks to comply if exceeded.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CPIDurationType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{Fixed, Variable}.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PDConstraints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PRI/PW ranges +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AllowedModifiers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 May coexist with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SPConstraints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SPConstraints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PW range +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AllowedModifiers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 May coexist with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PDConstraints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Waveforms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ClaweWaveformInstance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0..N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Waveform instances authored under this mode.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FIELD REFERENCE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chemeClr val="accent1"/>
                </a:solidFill>
                <a:latin typeface="Calibri"/>
              </a:rPr>
              <a:t>ClaweWaveformInstance</a:t>
            </a:r>
            <a:endParaRPr sz="2600" b="1" i="0" dirty="0">
              <a:solidFill>
                <a:schemeClr val="accent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14851"/>
              </p:ext>
            </p:extLst>
          </p:nvPr>
        </p:nvGraphicFramePr>
        <p:xfrm>
          <a:off x="548640" y="141732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chemeClr val="tx1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chemeClr val="tx1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chemeClr val="tx1"/>
                          </a:solidFill>
                          <a:latin typeface="Calibri"/>
                        </a:rPr>
                        <a:t>Card.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chemeClr val="tx1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WaveformID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uint32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Unique within the parent mode.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Unique within the parent mode.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RangeResolution_s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double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0..1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Optional; default used if missing (typ. 100–400 ns).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CenterFreqType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{Fixed, Random}; Random has optional </a:t>
                      </a:r>
                      <a:r>
                        <a:rPr sz="1050" dirty="0" err="1">
                          <a:solidFill>
                            <a:schemeClr val="tx2"/>
                          </a:solidFill>
                          <a:latin typeface="Calibri"/>
                        </a:rPr>
                        <a:t>ClearChan</a:t>
                      </a: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 bool.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WaveformCompression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Fixed 30 dB / 1024-pt FFT for now.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BaseWaveform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{PD, SP}; determines which PD-only/SP-only fields apply.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PRIType</a:t>
                      </a: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 / </a:t>
                      </a: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PWType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1, PD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Fixed, or Random/</a:t>
                      </a:r>
                      <a:r>
                        <a:rPr sz="1050" dirty="0" err="1">
                          <a:solidFill>
                            <a:schemeClr val="tx2"/>
                          </a:solidFill>
                          <a:latin typeface="Calibri"/>
                        </a:rPr>
                        <a:t>DutyCycle</a:t>
                      </a: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RDIIntegration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enum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chemeClr val="tx2"/>
                          </a:solidFill>
                          <a:latin typeface="Calibri"/>
                        </a:rPr>
                        <a:t>1, PD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chemeClr val="tx2"/>
                          </a:solidFill>
                          <a:latin typeface="Calibri"/>
                        </a:rPr>
                        <a:t>{None,2,4,8,16,32,64}; improves SNR vs. range/velocity res.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8A6FF"/>
                </a:solidFill>
                <a:latin typeface="Calibri"/>
              </a:rPr>
              <a:t>FIELD REFERENCE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chemeClr val="accent1"/>
                </a:solidFill>
                <a:latin typeface="Calibri"/>
              </a:rPr>
              <a:t>Modifier Stack — All Nine, Independently Toggleable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45230"/>
              </p:ext>
            </p:extLst>
          </p:nvPr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chemeClr val="tx1"/>
                          </a:solidFill>
                          <a:latin typeface="Calibri"/>
                        </a:rPr>
                        <a:t>Modifier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tx1"/>
                          </a:solidFill>
                          <a:latin typeface="Calibri"/>
                        </a:rPr>
                        <a:t>Branches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chemeClr val="tx1"/>
                          </a:solidFill>
                          <a:latin typeface="Calibri"/>
                        </a:rPr>
                        <a:t>Applies to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chemeClr val="tx1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Phase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None,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PhaseEncoded</a:t>
                      </a:r>
                      <a:endParaRPr sz="950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+ SP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Reserved placeholder field, no functional params yet.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Frequency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None,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SpreadSpectrum</a:t>
                      </a:r>
                      <a:endParaRPr sz="950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+ SP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ChannelSpread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/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SubchannelSpread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; SpreadBW1/2 (10–50 MHz);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SidelobeDetection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PulseCompression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None, PSK16, Barker13, LFM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PD + SP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LFM: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LFMBandwidth_hz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PRI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None, BaseAgile, RandomAgile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PD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DropRate% 25–75; Agility% 0–75.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PW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None, RandomAgile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Agility% 0–50.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Amplitude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None, Chop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SP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DutyCycle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% 25–75;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MaxOnTime_s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; IncreaseDC-before-target bool.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LeadingEdge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None, Rampup, Prepulse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+ SP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Rampup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 0.25–2 µs.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Prepulse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: PW/Gap/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FreqType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/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FreqOffset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/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ApplyFreqMods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 err="1">
                          <a:solidFill>
                            <a:schemeClr val="accent5"/>
                          </a:solidFill>
                          <a:latin typeface="Consolas"/>
                        </a:rPr>
                        <a:t>TrailingEdge</a:t>
                      </a:r>
                      <a:endParaRPr sz="1100" b="1" dirty="0">
                        <a:solidFill>
                          <a:schemeClr val="accent5"/>
                        </a:solidFill>
                        <a:latin typeface="Consolas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None, Postpulse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only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dirty="0" err="1">
                          <a:solidFill>
                            <a:schemeClr val="tx2"/>
                          </a:solidFill>
                          <a:latin typeface="+mn-lt"/>
                        </a:rPr>
                        <a:t>Postpulse</a:t>
                      </a:r>
                      <a:r>
                        <a:rPr lang="en-US" sz="950" dirty="0">
                          <a:solidFill>
                            <a:schemeClr val="tx2"/>
                          </a:solidFill>
                          <a:latin typeface="+mn-lt"/>
                        </a:rPr>
                        <a:t>: PW/Gap/</a:t>
                      </a:r>
                      <a:r>
                        <a:rPr lang="en-US" sz="950" dirty="0" err="1">
                          <a:solidFill>
                            <a:schemeClr val="tx2"/>
                          </a:solidFill>
                          <a:latin typeface="+mn-lt"/>
                        </a:rPr>
                        <a:t>FreqType</a:t>
                      </a:r>
                      <a:r>
                        <a:rPr lang="en-US" sz="950" dirty="0">
                          <a:solidFill>
                            <a:schemeClr val="tx2"/>
                          </a:solidFill>
                          <a:latin typeface="+mn-lt"/>
                        </a:rPr>
                        <a:t>/</a:t>
                      </a:r>
                      <a:r>
                        <a:rPr lang="en-US" sz="950" dirty="0" err="1">
                          <a:solidFill>
                            <a:schemeClr val="tx2"/>
                          </a:solidFill>
                          <a:latin typeface="+mn-lt"/>
                        </a:rPr>
                        <a:t>FreqOffset</a:t>
                      </a:r>
                      <a:r>
                        <a:rPr lang="en-US" sz="950" dirty="0">
                          <a:solidFill>
                            <a:schemeClr val="tx2"/>
                          </a:solidFill>
                          <a:latin typeface="+mn-lt"/>
                        </a:rPr>
                        <a:t>/</a:t>
                      </a:r>
                      <a:r>
                        <a:rPr lang="en-US" sz="950" dirty="0" err="1">
                          <a:solidFill>
                            <a:schemeClr val="tx2"/>
                          </a:solidFill>
                          <a:latin typeface="+mn-lt"/>
                        </a:rPr>
                        <a:t>ApplyFreqMods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chemeClr val="accent5"/>
                          </a:solidFill>
                          <a:latin typeface="Consolas"/>
                        </a:rPr>
                        <a:t>Discrimination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None,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LeadingEdgeTrack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, WBLFM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chemeClr val="tx2"/>
                          </a:solidFill>
                          <a:latin typeface="Calibri"/>
                        </a:rPr>
                        <a:t>PD + SP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WBLFM: BW 0–2 GHz, Repeat 1–4. </a:t>
                      </a:r>
                      <a:r>
                        <a:rPr sz="950" dirty="0" err="1">
                          <a:solidFill>
                            <a:schemeClr val="tx2"/>
                          </a:solidFill>
                          <a:latin typeface="Calibri"/>
                        </a:rPr>
                        <a:t>LeadingEdgeTrack</a:t>
                      </a:r>
                      <a:r>
                        <a:rPr sz="950" dirty="0">
                          <a:solidFill>
                            <a:schemeClr val="tx2"/>
                          </a:solidFill>
                          <a:latin typeface="Calibri"/>
                        </a:rPr>
                        <a:t>: reserved placeholder.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wRI_Proprietary">
  <a:themeElements>
    <a:clrScheme name="SwRI Corporate Pal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RI_Proprietary" id="{EA3961FC-58C4-4A41-BD98-27CB89BDD94B}" vid="{9B25DFB6-F457-4DC1-882A-D73C7EA42E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1055</Words>
  <Application>Microsoft Office PowerPoint</Application>
  <PresentationFormat>Widescreen</PresentationFormat>
  <Paragraphs>226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Consolas</vt:lpstr>
      <vt:lpstr>Gill Sans MT</vt:lpstr>
      <vt:lpstr>Gill Sans Std</vt:lpstr>
      <vt:lpstr>Wingdings</vt:lpstr>
      <vt:lpstr>SwRI_Proprietary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Callaway, John N.</cp:lastModifiedBy>
  <cp:revision>10</cp:revision>
  <dcterms:created xsi:type="dcterms:W3CDTF">2013-01-27T09:14:16Z</dcterms:created>
  <dcterms:modified xsi:type="dcterms:W3CDTF">2026-08-13T17:01:39Z</dcterms:modified>
  <cp:category/>
</cp:coreProperties>
</file>